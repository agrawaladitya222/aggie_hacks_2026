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29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AGGIE HACK 2026  ·  FAIRLIGHT ADVISORS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Financial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Analytics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657600"/>
            <a:ext cx="7772400" cy="814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platform for Fairlight Advisors to assess, benchmark,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stress-test 130K+ U.S. nonprofits using IRS Form 990 data.</a:t>
            </a:r>
          </a:p>
        </p:txBody>
      </p:sp>
      <p:sp>
        <p:nvSpPr>
          <p:cNvPr id="6" name="Text 4"/>
          <p:cNvSpPr/>
          <p:nvPr/>
        </p:nvSpPr>
        <p:spPr>
          <a:xfrm>
            <a:off x="594360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 ·  2026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E3399-E84C-890B-0417-7410AA712FD8}"/>
              </a:ext>
            </a:extLst>
          </p:cNvPr>
          <p:cNvSpPr txBox="1"/>
          <p:nvPr/>
        </p:nvSpPr>
        <p:spPr>
          <a:xfrm>
            <a:off x="591403" y="3458163"/>
            <a:ext cx="33391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Aditya Agrawal, Rishabh Bhat, Viraj Gandhi</a:t>
            </a:r>
            <a:endParaRPr lang="en-US" sz="9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donate?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guess where to allocate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philanthropic capital without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5584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healthy?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leaders can't benchmark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themselves against true peers.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9048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help?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0488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builders like Fairlight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clients without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841248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3616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 Form 990s filed. The data is public. The decisions to invest remain guesswork.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We Started With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sample — the whole sector.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202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396,910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" y="2240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filings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417320"/>
            <a:ext cx="19202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5087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137,938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87752" y="2240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organizations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202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36592" y="2240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years (2018–2024)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417320"/>
            <a:ext cx="19202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15087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85432" y="22402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territories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quality mattered: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batch deduplication  </a:t>
            </a: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expense correction  </a:t>
            </a: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NTEE fallback via mission 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data pipeline / EDA overview screenshot ]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74D73C-E4C9-96A8-BE47-88A9F5137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48456"/>
            <a:ext cx="6033247" cy="13969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 #1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 Is More Fragile Than It Looks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rate across the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130,000 organizations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508760"/>
            <a:ext cx="4480560" cy="24688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0" y="150876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Resilience Score distribution histogram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curve was the first signal this problem was worth solving at scale.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B0616E-EB90-51A8-9D85-FDF07029E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08760"/>
            <a:ext cx="4590084" cy="25036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 #2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Isn't Random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265176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State choropleth map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35271" y="1124084"/>
            <a:ext cx="2334408" cy="1273373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50424" y="1124084"/>
            <a:ext cx="1982096" cy="121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&amp; Shelter, Mutual Benefit, and International Affairs, consistently score lowest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618618-F903-FD0C-9B83-7286046E5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1" y="1249814"/>
            <a:ext cx="6126251" cy="3573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 #3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Intuition About Failure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said low program spending = at risk. The model disagreed.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Ratio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1792224"/>
            <a:ext cx="40233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42048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Growth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2322576"/>
            <a:ext cx="30403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59068" y="22677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Assets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852928"/>
            <a:ext cx="26974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16168" y="27980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284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3383280"/>
            <a:ext cx="23317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50408" y="33284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Months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3913632"/>
            <a:ext cx="21488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67528" y="38587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07408"/>
            <a:ext cx="84124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4531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load and fundraising momentum predict failure more than mission efficiency. Size matters too.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From These Findings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Resilience Score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412480" cy="235915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— grounded in EDA 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Reserves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stability signal — directly counters low-reserve at-risk 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Diversification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Counters grant dependency — contribution growth was predictor 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mission metric — lower weight than expected from EDA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Surplus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Deficit is an at-risk trigger — baked into score 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Ratio was the #1 predictor — explicitly in the 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05072"/>
            <a:ext cx="260604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0050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 ≥ 70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4005072"/>
            <a:ext cx="26060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/>
          <p:cNvSpPr/>
          <p:nvPr/>
        </p:nvSpPr>
        <p:spPr>
          <a:xfrm>
            <a:off x="3291840" y="40050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40–69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4005072"/>
            <a:ext cx="2606040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26480" y="40050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 &lt; 40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804" y="235527"/>
            <a:ext cx="2674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dirty="0"/>
              <a:t>At-Risk Score</a:t>
            </a:r>
          </a:p>
        </p:txBody>
      </p:sp>
      <p:pic>
        <p:nvPicPr>
          <p:cNvPr id="3" name="Picture 2" descr="at_risk_metric_formula_p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4023574" cy="230909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3274" y="3131127"/>
            <a:ext cx="3643745" cy="183341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rPr dirty="0"/>
              <a:t>Why this works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dirty="0"/>
              <a:t>Covers 4 different stress pathways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dirty="0"/>
              <a:t>Transparent and easy to explain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dirty="0"/>
              <a:t>Useful as an early warning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One-liner: An organization is at-risk if it shows a major warning sign in profitability, liquidity, balance-sheet health, or revenue trend.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60A500C4-A1F8-313F-D548-EAD1E72BADB4}"/>
              </a:ext>
            </a:extLst>
          </p:cNvPr>
          <p:cNvSpPr/>
          <p:nvPr/>
        </p:nvSpPr>
        <p:spPr>
          <a:xfrm>
            <a:off x="5024227" y="333663"/>
            <a:ext cx="3643745" cy="4476173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rPr lang="en-US" sz="1100" dirty="0"/>
              <a:t>Component Definitions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sz="1100" dirty="0"/>
              <a:t>SurplusMargin: Measures whether the nonprofit is consistently earning more than it spends, with negative values signaling operating deficits.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sz="1100" dirty="0"/>
              <a:t>OperatingReserveMonths: Measures cash runway as months of expenses covered by net assets, with low values meaning weak short-term resilience.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sz="1100" dirty="0"/>
              <a:t>NetAssetGrowthPct: Measures year-over-year change in net assets, where large declines indicate structural financial deterioration.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sz="1100" dirty="0"/>
              <a:t>RevenueGrowthPct: Measures year-over-year revenue momentum, where sharp drops indicate funding instability and elevated risk.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sz="1100" dirty="0"/>
              <a:t>Values: set for </a:t>
            </a:r>
            <a:r>
              <a:rPr lang="en-US" sz="1100" dirty="0">
                <a:solidFill>
                  <a:srgbClr val="334155"/>
                </a:solidFill>
              </a:rPr>
              <a:t>transparent early-warning thresholds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turned these findings into six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tools.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0" y="758952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0" y="7555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Executive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444752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0" y="142933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Peer Benchmarking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2130552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21031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Resilience Explorer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2816352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0" y="27889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Stress Test Simulator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3502152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34690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Hidden Gems Finder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26536ED-8776-54CB-B104-CCCDE9536994}"/>
              </a:ext>
            </a:extLst>
          </p:cNvPr>
          <p:cNvSpPr/>
          <p:nvPr/>
        </p:nvSpPr>
        <p:spPr>
          <a:xfrm>
            <a:off x="5486400" y="4114027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F8F61C3-648C-61B0-55CE-1E61D47E2A74}"/>
              </a:ext>
            </a:extLst>
          </p:cNvPr>
          <p:cNvSpPr/>
          <p:nvPr/>
        </p:nvSpPr>
        <p:spPr>
          <a:xfrm>
            <a:off x="5669280" y="41027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Brand Map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207599"/>
            <a:ext cx="32448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need a sector-wide scan before zooming in. EDA showed risk is unevenly distributed — you need the full picture first.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864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3064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(at-risk rate, median reserves), resilience distribution, state choropleth, sector ranking bar chart. Orange alert fires when &gt;20% at risk.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987552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Executive Overview tab screenshot ]</a:t>
            </a:r>
            <a:endParaRPr lang="en-US" sz="1100" dirty="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AD8695A8-EAD3-A4E1-0581-03F5213F5F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A04B8A-8B80-6F57-5289-E555B4C5B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664" y="841596"/>
            <a:ext cx="5037320" cy="2742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 #2 — sector and geography matter enormously. A raw score means nothing without knowing what 'normal' looks like for true peers.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864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156665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of org vs. peer median across 5 axes. Green/red metric breakdown. Full peer group table with Z-score context.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987552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Peer Benchmarking tab screenshot ]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3DD22A-3AA5-953C-7977-CC9103DA6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955548"/>
            <a:ext cx="4298484" cy="35165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Explorer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212933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findings needed interactive surfacing — funders managing portfolios need ML risk probability and resilience score together.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49031" y="987552"/>
            <a:ext cx="54864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28032" y="95975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8032" y="1010665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bar chart from trained model, revenue vs. resilience scatter, filterable browse table with at-risk probability per org.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987552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5EBC94-D637-C3FF-7384-81F0A1ACF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16" y="2050622"/>
            <a:ext cx="5735219" cy="30928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Simulator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33963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an org is 'at risk' today isn't enough — funders need to know what happens when a specific shock hits, especially given federal budget debates.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06752"/>
            <a:ext cx="54864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20601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266778"/>
            <a:ext cx="33963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pre-modeled scenarios, post-shock status breakdown (Critical / At Risk / Stressed / Survives), sector stacked bar, recovery timeline histogram.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2613F-A531-8A86-BE39-1522AAA7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401" y="814528"/>
            <a:ext cx="4991583" cy="31894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Finder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258142"/>
            <a:ext cx="33668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only half the picture. EDA surfaced orgs punching above their weight — high impact efficiency, below-median budget, financially sustainable.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864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259705"/>
            <a:ext cx="29759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27,208 qualifying orgs. DonationToStabilize metric — exact dollars to reach 6-month reserve. Top 6 gem cards. Budget vs. impact scatter.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987552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Hidden Gems Finder tab screenshot ]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C73145-51DC-0C3E-9E91-DA829BBA5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569" y="987552"/>
            <a:ext cx="4844467" cy="29782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93826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5320" y="1188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tabs answer specific questions.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shows the entire sector at once — mission efficiency vs. financial survival.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88734" y="938261"/>
            <a:ext cx="54864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28032" y="8700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8032" y="999833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Expense Ratio (X) vs. Reserve Months (Y).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color = resilience tier. Dot size = revenue.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sector, state, size, year, tier.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shows org name, revenue, surplus margin, grant dependency.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1346"/>
            <a:ext cx="17373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4068" y="212877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efficiency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Well-resourced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04872" y="2105054"/>
            <a:ext cx="1737360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4120" y="212877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efficiency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Well-resourced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72784" y="2105054"/>
            <a:ext cx="173736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45936" y="2131291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efficiency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(highest risk)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25112" y="2093322"/>
            <a:ext cx="173736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98264" y="212877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efficiency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(hidden gems)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184531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Quadrants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B4AAD6-EEBD-D349-747F-0149E20AD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25" y="2682109"/>
            <a:ext cx="7105434" cy="2416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998</Words>
  <Application>Microsoft Office PowerPoint</Application>
  <PresentationFormat>On-screen Show (16:9)</PresentationFormat>
  <Paragraphs>162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Nonprofit Financial Resilience — Fairlight Advisors</dc:title>
  <dc:subject>PptxGenJS Presentation</dc:subject>
  <dc:creator>PptxGenJS</dc:creator>
  <cp:lastModifiedBy>Viraj Gandhi</cp:lastModifiedBy>
  <cp:revision>8</cp:revision>
  <dcterms:created xsi:type="dcterms:W3CDTF">2026-04-14T16:49:52Z</dcterms:created>
  <dcterms:modified xsi:type="dcterms:W3CDTF">2026-04-14T18:46:07Z</dcterms:modified>
</cp:coreProperties>
</file>